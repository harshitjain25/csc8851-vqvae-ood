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FFD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Improving Energy-Based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400" b="1">
                <a:solidFill>
                  <a:srgbClr val="FFD451"/>
                </a:solidFill>
                <a:latin typeface="Calibri"/>
              </a:rPr>
              <a:t>Out-of-Distribution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using Generative Modeling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>
                <a:solidFill>
                  <a:srgbClr val="CFD8E8"/>
                </a:solidFill>
                <a:latin typeface="Calibri"/>
              </a:rPr>
              <a:t>Shifting OOD detection from classifier logits into a VQ-VAE latent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D451"/>
                </a:solidFill>
                <a:latin typeface="Calibri"/>
              </a:rPr>
              <a:t>Harshit Jain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17720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CFD8E8"/>
                </a:solidFill>
                <a:latin typeface="Consolas"/>
              </a:rPr>
              <a:t>hjain5@gsu.edu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D451"/>
                </a:solidFill>
                <a:latin typeface="Calibri"/>
              </a:rPr>
              <a:t>Parsh Jadon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49240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CFD8E8"/>
                </a:solidFill>
                <a:latin typeface="Consolas"/>
              </a:rPr>
              <a:t>pjadon1@gsu.edu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297680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800" b="1">
                <a:solidFill>
                  <a:srgbClr val="FFD451"/>
                </a:solidFill>
                <a:latin typeface="Calibri"/>
              </a:rPr>
              <a:t>CSC 8851  ·  Deep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663440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400" b="0">
                <a:solidFill>
                  <a:srgbClr val="CFD8E8"/>
                </a:solidFill>
                <a:latin typeface="Calibri"/>
              </a:rPr>
              <a:t>Spring 2026 Final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029200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400" b="0">
                <a:solidFill>
                  <a:srgbClr val="CFD8E8"/>
                </a:solidFill>
                <a:latin typeface="Calibri"/>
              </a:rPr>
              <a:t>Georgia State University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349240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>
                <a:solidFill>
                  <a:srgbClr val="FFD451"/>
                </a:solidFill>
                <a:latin typeface="Consolas"/>
              </a:rPr>
              <a:t>github.com/harshitjain25/csc8851-vqvae-ood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FD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Presentation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86400" cy="68580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43584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1. 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Why overconfidence on unseen inputs is dangerous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5486400" cy="68580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243584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2.  Related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36192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Softmax, ODIN, Mahalanobis, Energy, Outlier Exposure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65960"/>
            <a:ext cx="5486400" cy="68580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20824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3.  Baseline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13432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Classifier free-energy (Liu et al., 2020)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965960"/>
            <a:ext cx="5486400" cy="68580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020824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4.  Our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13432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VQ-VAE latent space + two detectors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743200"/>
            <a:ext cx="5486400" cy="68580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798064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5.  Training Objectives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90672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VQ-VAE loss · contrastive hinge · BCE · blend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743200"/>
            <a:ext cx="5486400" cy="68580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798064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6.  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090672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Architectures, hyperparams, reproducibility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520440"/>
            <a:ext cx="5486400" cy="68580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575304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7.  Experimental Setup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867912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Datasets, metrics, splits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520440"/>
            <a:ext cx="5486400" cy="68580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575304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8. 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867912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AUROC / AUPR / FPR@95 · Near- &amp; Far-OOD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297680"/>
            <a:ext cx="5486400" cy="68580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352544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9.  Head-to-Head Comparison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645152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Baseline vs Ours, per-metric deltas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297680"/>
            <a:ext cx="5486400" cy="68580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352544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10.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645152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Why combining can hurt; failure modes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074920"/>
            <a:ext cx="5486400" cy="68580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129784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11. Conclusions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422392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Wins, limits, future work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074920"/>
            <a:ext cx="5486400" cy="68580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5129784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12. References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FD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 Motivation: the overconfidence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A CIFAR-10 classifier will confidently label images it has never seen.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5669280" cy="420624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556A6"/>
                </a:solidFill>
                <a:latin typeface="Calibri"/>
              </a:rPr>
              <a:t>The real-world failure modes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303520" cy="3657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Calibri"/>
              </a:rPr>
              <a:t>•  Chest X-ray → labelled 'automobile' with 0.99 softmax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Calibri"/>
              </a:rPr>
              <a:t>•  SVHN digit → labelled 'truck'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Calibri"/>
              </a:rPr>
              <a:t>•  Gaussian noise → labelled 'frog'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Calibri"/>
              </a:rPr>
              <a:t>•  In medical imaging, autonomous driving, and industrial inspection, silent overconfidence is a safety hazard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Calibri"/>
              </a:rPr>
              <a:t>•  The model must learn to say 'I don't know'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577840" cy="420624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556A6"/>
                </a:solidFill>
                <a:latin typeface="Calibri"/>
              </a:rPr>
              <a:t>Formal task: binary gating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2120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Calibri"/>
              </a:rPr>
              <a:t>Pick score s(x) and threshold τ, flag OOD when s(x) &gt; τ: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514600"/>
            <a:ext cx="5212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5029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0B2A4A"/>
                </a:solidFill>
                <a:latin typeface="Cambria"/>
              </a:rPr>
              <a:t>g(x; τ) = 𝟙[ s(x) &gt; τ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52120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Calibri"/>
              </a:rPr>
              <a:t>Goal: choose s(x) that separates ID from OOD inputs.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749039"/>
            <a:ext cx="5212080" cy="1920240"/>
          </a:xfrm>
          <a:prstGeom prst="rect">
            <a:avLst/>
          </a:prstGeom>
          <a:solidFill>
            <a:srgbClr val="FFF7D6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84048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8A6100"/>
                </a:solidFill>
                <a:latin typeface="Calibri"/>
              </a:rPr>
              <a:t>Our reframing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160520"/>
            <a:ext cx="50292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Calibri"/>
              </a:rPr>
              <a:t>Classifier-energy asks: 'does x fit one of the 10 classes?'</a:t>
            </a:r>
          </a:p>
          <a:p>
            <a:pPr algn="l"/>
            <a:r>
              <a:rPr sz="1200" b="0">
                <a:solidFill>
                  <a:srgbClr val="111111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11111"/>
                </a:solidFill>
                <a:latin typeface="Calibri"/>
              </a:rPr>
              <a:t>We ask: 'does x look like a CIFAR-10 image at all?'</a:t>
            </a:r>
          </a:p>
          <a:p>
            <a:pPr algn="l"/>
            <a:r>
              <a:rPr sz="1200" b="0">
                <a:solidFill>
                  <a:srgbClr val="111111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11111"/>
                </a:solidFill>
                <a:latin typeface="Calibri"/>
              </a:rPr>
              <a:t>The second question is about visual structure — a natural fit for a generative model.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638544"/>
            <a:ext cx="10058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E0E6F0"/>
                </a:solidFill>
                <a:latin typeface="Calibri"/>
              </a:rPr>
              <a:t>CSC 8851 · Deep Learning · Spring 2026 · Harshit Jain &amp; Parsh Jadon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638544"/>
            <a:ext cx="914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D451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FD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 Related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11430000" cy="82296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Softmax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Hendrycks &amp; Gimpel, 2017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234440"/>
            <a:ext cx="69494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Calibri"/>
              </a:rPr>
              <a:t>Max softmax probability. Simplest baseline. Known to be overconfident on unfamiliar inputs.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993392"/>
            <a:ext cx="11430000" cy="82296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66544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ODIN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86584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Liang et al., 2018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30552"/>
            <a:ext cx="69494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Calibri"/>
              </a:rPr>
              <a:t>Temperature scaling + gradient-based input perturbation. Two hyperparameters re-tuned per OOD 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889504"/>
            <a:ext cx="11430000" cy="82296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62656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Mahalanobis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82696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Lee et al., 2018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026664"/>
            <a:ext cx="69494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Calibri"/>
              </a:rPr>
              <a:t>Class-conditional Gaussians on penultimate features. Requires stored statistics + Gaussian assumption.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85616"/>
            <a:ext cx="11430000" cy="82296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58768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Outlier Exposure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78808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Hendrycks et al., 2019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922776"/>
            <a:ext cx="69494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Calibri"/>
              </a:rPr>
              <a:t>Fine-tunes on auxiliary OOD images to push outputs toward uniform.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681728"/>
            <a:ext cx="11430000" cy="82296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754880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Energy-Based 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74920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Liu et al., NeurIPS 2020  ← our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818888"/>
            <a:ext cx="69494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Calibri"/>
              </a:rPr>
              <a:t>Free-energy score −T·logΣexp(fᵢ/T) from classifier logits. Better calibrated than softmax.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577840"/>
            <a:ext cx="11430000" cy="82296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50992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VQ-VAE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1032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van den Oord et al., NeurIPS 2017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715000"/>
            <a:ext cx="69494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Calibri"/>
              </a:rPr>
              <a:t>Discrete latent vocabulary. We use it to define a generative code space for OOD scoring.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638544"/>
            <a:ext cx="10058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E0E6F0"/>
                </a:solidFill>
                <a:latin typeface="Calibri"/>
              </a:rPr>
              <a:t>CSC 8851 · Deep Learning · Spring 2026 · Harshit Jain &amp; Parsh Jadon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638544"/>
            <a:ext cx="914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D451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FD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 Contributions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548640" cy="777240"/>
          </a:xfrm>
          <a:prstGeom prst="round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143000"/>
            <a:ext cx="10607040" cy="77724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216152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Calibri"/>
              </a:rPr>
              <a:t>Reproduce the classifier-energy baseline (Liu 2020) on CIFAR-10 vs CIFAR-100 and CIFAR-10 vs SVHN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84248"/>
            <a:ext cx="548640" cy="777240"/>
          </a:xfrm>
          <a:prstGeom prst="round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5486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1984248"/>
            <a:ext cx="10607040" cy="77724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057400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Calibri"/>
              </a:rPr>
              <a:t>Propose Latent Energy Detection: an UNSUPERVISED energy network trained directly on VQ-VAE codes with a contrastive hinge loss; Gaussian noise serves as a cheap pseudo-OOD proxy. No OOD labels needed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25496"/>
            <a:ext cx="548640" cy="777240"/>
          </a:xfrm>
          <a:prstGeom prst="round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25496"/>
            <a:ext cx="5486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2825496"/>
            <a:ext cx="10607040" cy="77724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289864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Calibri"/>
              </a:rPr>
              <a:t>Add a supervised Latent MLP classifier operating on the same 4096-D codes, and a combined score that blends both through min–max normalisation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66744"/>
            <a:ext cx="548640" cy="777240"/>
          </a:xfrm>
          <a:prstGeom prst="round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66744"/>
            <a:ext cx="5486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666744"/>
            <a:ext cx="10607040" cy="77724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3739896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Calibri"/>
              </a:rPr>
              <a:t>Evaluate all four detectors on Near-OOD (CIFAR-100) and Far-OOD (SVHN) with AUROC, AUPR, FPR@95TPR — the standard benchmark triple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07992"/>
            <a:ext cx="548640" cy="777240"/>
          </a:xfrm>
          <a:prstGeom prst="round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07992"/>
            <a:ext cx="5486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507992"/>
            <a:ext cx="10607040" cy="77724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4581144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Calibri"/>
              </a:rPr>
              <a:t>Analyse when combining helps vs hurts, and why Gaussian noise is a weak pseudo-OOD proxy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349240"/>
            <a:ext cx="548640" cy="777240"/>
          </a:xfrm>
          <a:prstGeom prst="round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349240"/>
            <a:ext cx="5486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349240"/>
            <a:ext cx="10607040" cy="77724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5880" y="5422392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Calibri"/>
              </a:rPr>
              <a:t>Release a clean single-command PyTorch pipeline (./run_all.sh) with deterministic seeds and documented checkpoints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638544"/>
            <a:ext cx="10058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E0E6F0"/>
                </a:solidFill>
                <a:latin typeface="Calibri"/>
              </a:rPr>
              <a:t>CSC 8851 · Deep Learning · Spring 2026 · Harshit Jain &amp; Parsh Jadon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638544"/>
            <a:ext cx="914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D451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FD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4a.  Baseline: Energy-Based OOD from Classifier Logits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FFD451"/>
                </a:solidFill>
                <a:latin typeface="Calibri"/>
              </a:rPr>
              <a:t>Liu et al., NeurIPS 2020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51560"/>
            <a:ext cx="5669280" cy="530352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556A6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530352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Calibri"/>
              </a:rPr>
              <a:t>•  Train a classifier f(x) → ℝ¹⁰ on CIFAR-10 (cross-entropy)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Calibri"/>
              </a:rPr>
              <a:t>•  Compute free energy from the logits: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44368"/>
            <a:ext cx="53035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0B2A4A"/>
                </a:solidFill>
                <a:latin typeface="Cambria"/>
              </a:rPr>
              <a:t>E(x; f) = −T · log Σᵢ exp(fᵢ(x)/T)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5303520" cy="2560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Calibri"/>
              </a:rPr>
              <a:t>•  Low energy → sample fits one of the 10 classes well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Calibri"/>
              </a:rPr>
              <a:t>•  High energy → likely OOD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Calibri"/>
              </a:rPr>
              <a:t>•  Threshold τ chosen at 95% TPR on ID validation set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Calibri"/>
              </a:rPr>
              <a:t>•  Strengths: simple, theoretically grounded in log-partition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Calibri"/>
              </a:rPr>
              <a:t>•  Weakness: score still depends on classifier logits — a 'class identity' lens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51560"/>
            <a:ext cx="5577840" cy="530352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14300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556A6"/>
                </a:solidFill>
                <a:latin typeface="Calibri"/>
              </a:rPr>
              <a:t>Baseline CNN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45920"/>
            <a:ext cx="1828800" cy="502920"/>
          </a:xfrm>
          <a:prstGeom prst="roundRect">
            <a:avLst/>
          </a:prstGeom>
          <a:solidFill>
            <a:srgbClr val="E7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45920"/>
            <a:ext cx="1828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B2A4A"/>
                </a:solidFill>
                <a:latin typeface="Calibri"/>
              </a:rP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69164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3 × 32 × 32 RGB image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286000"/>
            <a:ext cx="1828800" cy="502920"/>
          </a:xfrm>
          <a:prstGeom prst="round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1828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Conv2d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33172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3→32, 3×3, ReLU, MaxPool(2)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926080"/>
            <a:ext cx="1828800" cy="502920"/>
          </a:xfrm>
          <a:prstGeom prst="round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926080"/>
            <a:ext cx="1828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Conv2d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97180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32→64, 3×3, ReLU, MaxPool(2)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566160"/>
            <a:ext cx="1828800" cy="502920"/>
          </a:xfrm>
          <a:prstGeom prst="roundRect">
            <a:avLst/>
          </a:prstGeom>
          <a:solidFill>
            <a:srgbClr val="9CA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566160"/>
            <a:ext cx="1828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Flatten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61188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64·8·8 = 4096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206240"/>
            <a:ext cx="1828800" cy="502920"/>
          </a:xfrm>
          <a:prstGeom prst="roundRect">
            <a:avLst/>
          </a:prstGeom>
          <a:solidFill>
            <a:srgbClr val="4A2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206240"/>
            <a:ext cx="1828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Linear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25196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4096 → 128, ReLU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846320"/>
            <a:ext cx="1828800" cy="502920"/>
          </a:xfrm>
          <a:prstGeom prst="roundRect">
            <a:avLst/>
          </a:prstGeom>
          <a:solidFill>
            <a:srgbClr val="4A2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846320"/>
            <a:ext cx="1828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Linear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89204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128 → 10 (logits)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486400"/>
            <a:ext cx="1828800" cy="502920"/>
          </a:xfrm>
          <a:prstGeom prst="roundRect">
            <a:avLst/>
          </a:prstGeom>
          <a:solidFill>
            <a:srgbClr val="D6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486400"/>
            <a:ext cx="1828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Energy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53212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E(x) = −logsumexp(logits)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638544"/>
            <a:ext cx="10058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E0E6F0"/>
                </a:solidFill>
                <a:latin typeface="Calibri"/>
              </a:rPr>
              <a:t>CSC 8851 · Deep Learning · Spring 2026 · Harshit Jain &amp; Parsh Jadon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638544"/>
            <a:ext cx="914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D451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FD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4b.  Our Method: Detection in VQ-VAE Latent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FFD451"/>
                </a:solidFill>
                <a:latin typeface="Calibri"/>
              </a:rPr>
              <a:t>A generative code space shaped only by in-distribution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1828800" cy="100584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Calibri"/>
              </a:rPr>
              <a:t>Image 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1828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0B2A4A"/>
                </a:solidFill>
                <a:latin typeface="Calibri"/>
              </a:rPr>
              <a:t>3 × 32 × 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554480"/>
            <a:ext cx="1828800" cy="1005840"/>
          </a:xfrm>
          <a:prstGeom prst="round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645920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VQ-VAE Enc.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057400"/>
            <a:ext cx="1828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trained on CIFAR-10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554480"/>
            <a:ext cx="1828800" cy="1005840"/>
          </a:xfrm>
          <a:prstGeom prst="roundRect">
            <a:avLst/>
          </a:prstGeom>
          <a:solidFill>
            <a:srgbClr val="4A2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645920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Quantize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057400"/>
            <a:ext cx="1828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codebook K=512, d=64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554480"/>
            <a:ext cx="1828800" cy="1005840"/>
          </a:xfrm>
          <a:prstGeom prst="roundRect">
            <a:avLst/>
          </a:prstGeom>
          <a:solidFill>
            <a:srgbClr val="FFD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645920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Calibri"/>
              </a:rPr>
              <a:t>z  (4096-D)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57400"/>
            <a:ext cx="1828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0B2A4A"/>
                </a:solidFill>
                <a:latin typeface="Calibri"/>
              </a:rPr>
              <a:t>8 × 8 × 64 flattened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1554480"/>
            <a:ext cx="1828800" cy="1005840"/>
          </a:xfrm>
          <a:prstGeom prst="roundRect">
            <a:avLst/>
          </a:prstGeom>
          <a:solidFill>
            <a:srgbClr val="D6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645920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Energy MLP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057400"/>
            <a:ext cx="1828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unsupervised hinge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1554480"/>
            <a:ext cx="1828800" cy="1005840"/>
          </a:xfrm>
          <a:prstGeom prst="roundRect">
            <a:avLst/>
          </a:prstGeom>
          <a:solidFill>
            <a:srgbClr val="1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1645920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OOD MLP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2057400"/>
            <a:ext cx="1828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supervised BCE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1874519"/>
            <a:ext cx="274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2A4A"/>
                </a:solidFill>
                <a:latin typeface="Calibri"/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1874519"/>
            <a:ext cx="274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2A4A"/>
                </a:solidFill>
                <a:latin typeface="Calibri"/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874519"/>
            <a:ext cx="274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2A4A"/>
                </a:solidFill>
                <a:latin typeface="Calibri"/>
              </a:rPr>
              <a:t>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874519"/>
            <a:ext cx="274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2A4A"/>
                </a:solidFill>
                <a:latin typeface="Calibri"/>
              </a:rPr>
              <a:t>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1874519"/>
            <a:ext cx="274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2A4A"/>
                </a:solidFill>
                <a:latin typeface="Calibri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2926080"/>
            <a:ext cx="3703320" cy="347472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017520"/>
            <a:ext cx="3474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556A6"/>
                </a:solidFill>
                <a:latin typeface="Calibri"/>
              </a:rPr>
              <a:t>What enters the code space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429000"/>
            <a:ext cx="352044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Only CIFAR-10 images during training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Encoder learns a 'vocabulary' of 512 code vectors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Each 8×8 spatial position picks the closest code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Result z_q: 4096-D discrete signature of the image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33672" y="2926080"/>
            <a:ext cx="3703320" cy="347472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6552" y="3017520"/>
            <a:ext cx="3474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556A6"/>
                </a:solidFill>
                <a:latin typeface="Calibri"/>
              </a:rPr>
              <a:t>Why this should detect OOD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2" y="3429000"/>
            <a:ext cx="352044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CIFAR-100 / SVHN images push the encoder into unfamiliar code patterns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These patterns are directly observable in z_q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Detectors learn to flag unusual codebook activations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No classifier — the score is about visual structure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1584" y="2926080"/>
            <a:ext cx="3703320" cy="347472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4" y="3017520"/>
            <a:ext cx="3474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556A6"/>
                </a:solidFill>
                <a:latin typeface="Calibri"/>
              </a:rPr>
              <a:t>Two detectors on the same 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3429000"/>
            <a:ext cx="352044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Energy MLP: unsupervised, learns ID code manifold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OOD MLP: supervised, binary ID vs OOD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Combined: min–max normalise, blend α=0.5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Compare all three to pick the best trade-off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638544"/>
            <a:ext cx="10058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E0E6F0"/>
                </a:solidFill>
                <a:latin typeface="Calibri"/>
              </a:rPr>
              <a:t>CSC 8851 · Deep Learning · Spring 2026 · Harshit Jain &amp; Parsh Jadon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638544"/>
            <a:ext cx="914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D451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FD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4c.  The VQ-VAE: vocabulary-building for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FFD451"/>
                </a:solidFill>
                <a:latin typeface="Calibri"/>
              </a:rPr>
              <a:t>Van den Oord, Vinyals, Kavukcuoglu — NeurIPS 2017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51560"/>
            <a:ext cx="5760720" cy="539496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556A6"/>
                </a:solidFill>
                <a:latin typeface="Calibri"/>
              </a:rPr>
              <a:t>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1737360" cy="457200"/>
          </a:xfrm>
          <a:prstGeom prst="round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17373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Encoder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627632"/>
            <a:ext cx="35661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2× (Conv 3×3, stride 2, ReLU) → z_e ∈ ℝ^{64×8×8}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67128"/>
            <a:ext cx="1737360" cy="457200"/>
          </a:xfrm>
          <a:prstGeom prst="round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7373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Codebook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194560"/>
            <a:ext cx="35661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K = 512 vectors of dim 64, learned jointly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34056"/>
            <a:ext cx="1737360" cy="457200"/>
          </a:xfrm>
          <a:prstGeom prst="round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34056"/>
            <a:ext cx="17373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Quantizer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761488"/>
            <a:ext cx="35661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snap each spatial z_e to nearest e_k (argmin)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00984"/>
            <a:ext cx="1737360" cy="457200"/>
          </a:xfrm>
          <a:prstGeom prst="round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00984"/>
            <a:ext cx="17373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Straight-through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328416"/>
            <a:ext cx="35661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∂L/∂z_e ← ∂L/∂z_q  (bypasses argmin)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67912"/>
            <a:ext cx="1737360" cy="457200"/>
          </a:xfrm>
          <a:prstGeom prst="round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867912"/>
            <a:ext cx="17373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Decoder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895344"/>
            <a:ext cx="35661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2× (ConvT 3×3, stride 2, ReLU) → x̂ ∈ ℝ^{3×32×32}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72000"/>
            <a:ext cx="5440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617720"/>
            <a:ext cx="5303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VQ-VAE loss (3 terms)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937760"/>
            <a:ext cx="53035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mbria"/>
              </a:rPr>
              <a:t>ℒ_vq = ‖x − D(z_q)‖²  +  ‖sg[z_e] − e_k‖²  +  β·‖z_e − sg[e_k]‖²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86400"/>
            <a:ext cx="53035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• Reconstruction: decoder must rebuild x from z_q</a:t>
            </a:r>
          </a:p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• Codebook: vectors pulled toward encoder outputs</a:t>
            </a:r>
          </a:p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• Commitment (β = 0.25): encoder must stay near its chosen 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1051560"/>
            <a:ext cx="5486400" cy="539496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14300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8A6100"/>
                </a:solidFill>
                <a:latin typeface="Calibri"/>
              </a:rPr>
              <a:t>Why this helps for OOD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1600200"/>
            <a:ext cx="5120640" cy="2743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111"/>
                </a:solidFill>
                <a:latin typeface="Calibri"/>
              </a:rPr>
              <a:t>•  Codebook learns a discrete 'vocabulary' of image parts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111"/>
                </a:solidFill>
                <a:latin typeface="Calibri"/>
              </a:rPr>
              <a:t>•  Vocabulary is shaped ONLY by CIFAR-10 — no OOD signal seen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111"/>
                </a:solidFill>
                <a:latin typeface="Calibri"/>
              </a:rPr>
              <a:t>•  Unfamiliar images force unusual codebook index patterns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111"/>
                </a:solidFill>
                <a:latin typeface="Calibri"/>
              </a:rPr>
              <a:t>•  Quantization acts as a bottleneck — limits reconstruction quality on OOD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111"/>
                </a:solidFill>
                <a:latin typeface="Calibri"/>
              </a:rPr>
              <a:t>•  The 4096-D code z_q is a compact, structure-aware signature of 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48056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Key numbers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4892040"/>
            <a:ext cx="1645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937760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Codebook size 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166360"/>
            <a:ext cx="1645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0B2A4A"/>
                </a:solidFill>
                <a:latin typeface="Consolas"/>
              </a:rPr>
              <a:t>512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4892040"/>
            <a:ext cx="1645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4937760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Code dimension 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166360"/>
            <a:ext cx="1645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0B2A4A"/>
                </a:solidFill>
                <a:latin typeface="Consolas"/>
              </a:rPr>
              <a:t>64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66960" y="4892040"/>
            <a:ext cx="1645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66960" y="4937760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Latent grid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5166360"/>
            <a:ext cx="1645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0B2A4A"/>
                </a:solidFill>
                <a:latin typeface="Consolas"/>
              </a:rPr>
              <a:t>8 × 8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5623560"/>
            <a:ext cx="1645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669280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Flattened z_q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897880"/>
            <a:ext cx="1645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0B2A4A"/>
                </a:solidFill>
                <a:latin typeface="Consolas"/>
              </a:rPr>
              <a:t>4096-D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0" y="5623560"/>
            <a:ext cx="1645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5669280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Train epochs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5897880"/>
            <a:ext cx="1645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0B2A4A"/>
                </a:solidFill>
                <a:latin typeface="Consolas"/>
              </a:rPr>
              <a:t>10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66960" y="5623560"/>
            <a:ext cx="1645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6960" y="5669280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Commitment 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5897880"/>
            <a:ext cx="1645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0B2A4A"/>
                </a:solidFill>
                <a:latin typeface="Consolas"/>
              </a:rPr>
              <a:t>0.25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638544"/>
            <a:ext cx="10058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E0E6F0"/>
                </a:solidFill>
                <a:latin typeface="Calibri"/>
              </a:rPr>
              <a:t>CSC 8851 · Deep Learning · Spring 2026 · Harshit Jain &amp; Parsh Jadon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6638544"/>
            <a:ext cx="914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D451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FD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5.  Training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11430000" cy="182880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D6735A"/>
                </a:solidFill>
                <a:latin typeface="Calibri"/>
              </a:rPr>
              <a:t>Latent Energy — contrastive hinge (UNSUPERVISED)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68580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6751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mbria"/>
              </a:rPr>
              <a:t>ℒ_in  = 𝔼_{z~p_ID} [ max(0, E(z) − m_in )² ]           m_in = −10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66751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mbria"/>
              </a:rPr>
              <a:t>ℒ_out = 𝔼_{z~𝒩(0,I)} [ max(0, m_out − E(z) )² ]    m_out = −5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66751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mbria"/>
              </a:rPr>
              <a:t>ℒ_energy = ℒ_in + ℒ_out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508760"/>
            <a:ext cx="411480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Push real CIFAR-10 codes to LOW energy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Push Gaussian noise to HIGH energy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Hinge stops once sample is past margin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No OOD labels needed at training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926080"/>
            <a:ext cx="11430000" cy="164592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E7A4E"/>
                </a:solidFill>
                <a:latin typeface="Calibri"/>
              </a:rPr>
              <a:t>Latent OOD MLP — binary cross-entropy (SUPERVISED)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29000"/>
            <a:ext cx="6858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66751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mbria"/>
              </a:rPr>
              <a:t>ℒ_MLP = −𝔼[ y·log σ(g(z)) + (1−y)·log (1 − σ(g(z)))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66751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Calibri"/>
              </a:rPr>
              <a:t>y = 0 for CIFAR-10,   y = 1 for CIFAR-100 / SVHN codes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429000"/>
            <a:ext cx="41148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Uses known OOD codes during training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Strong signal — but needs labelled OOD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Score: sigmoid probability of 'OOD'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663440"/>
            <a:ext cx="11430000" cy="169164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8A6100"/>
                </a:solidFill>
                <a:latin typeface="Calibri"/>
              </a:rPr>
              <a:t>Combined score — min–max normalise + blend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166360"/>
            <a:ext cx="6858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12080"/>
            <a:ext cx="66751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mbria"/>
              </a:rPr>
              <a:t>s_comb(z) = α · Ẽ_lat(z) + (1 − α) · ỹ_MLP(z)       α = 0.5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5166360"/>
            <a:ext cx="41148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Both signals scaled to [0, 1]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Equal-weight blend as a simple ensemble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Analysed: blend can HURT if one signal is weak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638544"/>
            <a:ext cx="10058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E0E6F0"/>
                </a:solidFill>
                <a:latin typeface="Calibri"/>
              </a:rPr>
              <a:t>CSC 8851 · Deep Learning · Spring 2026 · Harshit Jain &amp; Parsh Jadon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638544"/>
            <a:ext cx="914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D451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FD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6.  Implementation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5760720" cy="539496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556A6"/>
                </a:solidFill>
                <a:latin typeface="Calibri"/>
              </a:rPr>
              <a:t>Model architectures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554480" cy="502920"/>
          </a:xfrm>
          <a:prstGeom prst="rect">
            <a:avLst/>
          </a:prstGeom>
          <a:solidFill>
            <a:srgbClr val="0B2A4A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14630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1600200"/>
            <a:ext cx="2377440" cy="502920"/>
          </a:xfrm>
          <a:prstGeom prst="rect">
            <a:avLst/>
          </a:prstGeom>
          <a:solidFill>
            <a:srgbClr val="0B2A4A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1600200"/>
            <a:ext cx="2286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600200"/>
            <a:ext cx="1691640" cy="502920"/>
          </a:xfrm>
          <a:prstGeom prst="rect">
            <a:avLst/>
          </a:prstGeom>
          <a:solidFill>
            <a:srgbClr val="0B2A4A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00200"/>
            <a:ext cx="16002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Loss / 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03120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103120"/>
            <a:ext cx="14630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Baseline CNN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210312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2103120"/>
            <a:ext cx="2286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2× (Conv+ReLU+Pool) + 2-layer MLP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2103120"/>
            <a:ext cx="1691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2103120"/>
            <a:ext cx="16002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CrossEntropy → 10 logits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06040"/>
            <a:ext cx="1554480" cy="502920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606040"/>
            <a:ext cx="14630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VQ-VAE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0" y="2606040"/>
            <a:ext cx="2377440" cy="502920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8840" y="2606040"/>
            <a:ext cx="2286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2-layer ConvEnc/Dec, K=512 × d=64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2606040"/>
            <a:ext cx="1691640" cy="502920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606040"/>
            <a:ext cx="16002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MSE + codebook + 0.25·commit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108960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108960"/>
            <a:ext cx="14630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Energy MLP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03120" y="310896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48840" y="3108960"/>
            <a:ext cx="2286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3× Linear(256) + Linear(1)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3108960"/>
            <a:ext cx="1691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3108960"/>
            <a:ext cx="16002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Contrastive hinge → scalar E(z)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611880"/>
            <a:ext cx="1554480" cy="502920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611880"/>
            <a:ext cx="14630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OOD MLP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03120" y="3611880"/>
            <a:ext cx="2377440" cy="502920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48840" y="3611880"/>
            <a:ext cx="2286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3× Linear(256) + Linear(1)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3611880"/>
            <a:ext cx="1691640" cy="502920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3611880"/>
            <a:ext cx="16002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BCE → logit σ⁻¹(p_OOD)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556A6"/>
                </a:solidFill>
                <a:latin typeface="Calibri"/>
              </a:rPr>
              <a:t>Training settings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572000"/>
            <a:ext cx="539496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Adam optimiser, lr = 1e-3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Batch: 512 latent heads · 128 baseline CNN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Epochs: 10 (VQ-VAE, latent heads) · 5 (baseline)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Seed 42 fixed across Python / NumPy / PyTorch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Full pipeline runs in &lt;15 min on a single Colab T4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1051560"/>
            <a:ext cx="5486400" cy="539496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114300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556A6"/>
                </a:solidFill>
                <a:latin typeface="Calibri"/>
              </a:rPr>
              <a:t>Reproducibility &amp; pipeline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1600200"/>
            <a:ext cx="411480" cy="502920"/>
          </a:xfrm>
          <a:prstGeom prst="round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1600200"/>
            <a:ext cx="411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1636776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B2A4A"/>
                </a:solidFill>
                <a:latin typeface="Consolas"/>
              </a:rPr>
              <a:t>train_vqvae.py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1636776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VQ-VAE on CIFAR-10 train split (50k)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92240" y="2194560"/>
            <a:ext cx="411480" cy="502920"/>
          </a:xfrm>
          <a:prstGeom prst="round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2194560"/>
            <a:ext cx="411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2231136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B2A4A"/>
                </a:solidFill>
                <a:latin typeface="Consolas"/>
              </a:rPr>
              <a:t>train_baseline.py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2231136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Baseline CNN for classifier energy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2788920"/>
            <a:ext cx="411480" cy="502920"/>
          </a:xfrm>
          <a:prstGeom prst="round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2788920"/>
            <a:ext cx="411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2825496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B2A4A"/>
                </a:solidFill>
                <a:latin typeface="Consolas"/>
              </a:rPr>
              <a:t>extract_latents.py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2825496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Encode CIFAR-10/100, SVHN → .npy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92240" y="3383280"/>
            <a:ext cx="411480" cy="502920"/>
          </a:xfrm>
          <a:prstGeom prst="round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3383280"/>
            <a:ext cx="411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3419856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B2A4A"/>
                </a:solidFill>
                <a:latin typeface="Consolas"/>
              </a:rPr>
              <a:t>train_energy.py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3419856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Contrastive hinge on latent codes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92240" y="3977640"/>
            <a:ext cx="411480" cy="502920"/>
          </a:xfrm>
          <a:prstGeom prst="round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3977640"/>
            <a:ext cx="411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95160" y="4014216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B2A4A"/>
                </a:solidFill>
                <a:latin typeface="Consolas"/>
              </a:rPr>
              <a:t>train_mlp.py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35440" y="4014216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Supervised BCE OOD head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92240" y="4572000"/>
            <a:ext cx="411480" cy="502920"/>
          </a:xfrm>
          <a:prstGeom prst="round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92240" y="4572000"/>
            <a:ext cx="411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95160" y="4608576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B2A4A"/>
                </a:solidFill>
                <a:latin typeface="Consolas"/>
              </a:rPr>
              <a:t>evaluate_baseline.py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35440" y="4608576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Metrics for baseline energy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92240" y="5166360"/>
            <a:ext cx="411480" cy="502920"/>
          </a:xfrm>
          <a:prstGeom prst="round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92240" y="5166360"/>
            <a:ext cx="411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95160" y="5202936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B2A4A"/>
                </a:solidFill>
                <a:latin typeface="Consolas"/>
              </a:rPr>
              <a:t>evaluate_ood.py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35440" y="5202936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Metrics for all 3 latent detectors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92240" y="5852160"/>
            <a:ext cx="5212080" cy="50292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92240" y="5852160"/>
            <a:ext cx="52120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D451"/>
                </a:solidFill>
                <a:latin typeface="Consolas"/>
              </a:rPr>
              <a:t>$  ./run_all.sh           # one-shot pipeline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6638544"/>
            <a:ext cx="10058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E0E6F0"/>
                </a:solidFill>
                <a:latin typeface="Calibri"/>
              </a:rPr>
              <a:t>CSC 8851 · Deep Learning · Spring 2026 · Harshit Jain &amp; Parsh Jadon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247120" y="6638544"/>
            <a:ext cx="914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D451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FD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7.  Experimental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11430000" cy="219456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556A6"/>
                </a:solidFill>
                <a:latin typeface="Calibri"/>
              </a:rPr>
              <a:t>Datasets  (all 32 × 32 RGB, test splits)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2377440" cy="365760"/>
          </a:xfrm>
          <a:prstGeom prst="rect">
            <a:avLst/>
          </a:prstGeom>
          <a:solidFill>
            <a:srgbClr val="0B2A4A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22402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600200"/>
            <a:ext cx="2194560" cy="365760"/>
          </a:xfrm>
          <a:prstGeom prst="rect">
            <a:avLst/>
          </a:prstGeom>
          <a:solidFill>
            <a:srgbClr val="0B2A4A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600200"/>
            <a:ext cx="20574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600200"/>
            <a:ext cx="1645920" cy="365760"/>
          </a:xfrm>
          <a:prstGeom prst="rect">
            <a:avLst/>
          </a:prstGeom>
          <a:solidFill>
            <a:srgbClr val="0B2A4A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600200"/>
            <a:ext cx="15087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Classes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600200"/>
            <a:ext cx="3017520" cy="365760"/>
          </a:xfrm>
          <a:prstGeom prst="rect">
            <a:avLst/>
          </a:prstGeom>
          <a:solidFill>
            <a:srgbClr val="0B2A4A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600200"/>
            <a:ext cx="2880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Domain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0" y="1600200"/>
            <a:ext cx="1920240" cy="365760"/>
          </a:xfrm>
          <a:prstGeom prst="rect">
            <a:avLst/>
          </a:prstGeom>
          <a:solidFill>
            <a:srgbClr val="0B2A4A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1600200"/>
            <a:ext cx="17830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# test images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965960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965960"/>
            <a:ext cx="22402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CIFAR-10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965960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1965960"/>
            <a:ext cx="20574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ID (in-distribution)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196596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1965960"/>
            <a:ext cx="15087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965960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1965960"/>
            <a:ext cx="2880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natural images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1965960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1965960"/>
            <a:ext cx="17830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10,000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331720"/>
            <a:ext cx="2377440" cy="365760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331720"/>
            <a:ext cx="22402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CIFAR-100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2331720"/>
            <a:ext cx="2194560" cy="365760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2331720"/>
            <a:ext cx="20574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Near-OOD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2331720"/>
            <a:ext cx="1645920" cy="365760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2331720"/>
            <a:ext cx="15087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100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2331720"/>
            <a:ext cx="3017520" cy="365760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2331720"/>
            <a:ext cx="2880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natural images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84080" y="2331720"/>
            <a:ext cx="1920240" cy="365760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0" y="2331720"/>
            <a:ext cx="17830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10,000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2697480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2697480"/>
            <a:ext cx="22402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SVHN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80" y="2697480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2697480"/>
            <a:ext cx="20574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Far-OOD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269748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0" y="2697480"/>
            <a:ext cx="15087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2697480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2697480"/>
            <a:ext cx="2880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digit / street view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84080" y="2697480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0" y="2697480"/>
            <a:ext cx="17830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26,032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28346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CIFAR-100 is a stress test — same image domain. SVHN is a sanity check — obviously different content.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" y="3474720"/>
            <a:ext cx="3703320" cy="210312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3474720"/>
            <a:ext cx="3703320" cy="457200"/>
          </a:xfrm>
          <a:prstGeom prst="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3474720"/>
            <a:ext cx="37033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AUROC  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3977639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0B2A4A"/>
                </a:solidFill>
                <a:latin typeface="Calibri"/>
              </a:rPr>
              <a:t>Area under ROC curve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4297680"/>
            <a:ext cx="3474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Higher = better separability between ID and OOD scores. 0.5 = random, 1.0 = perfect.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33672" y="3474720"/>
            <a:ext cx="3703320" cy="210312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33672" y="3474720"/>
            <a:ext cx="3703320" cy="457200"/>
          </a:xfrm>
          <a:prstGeom prst="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33672" y="3474720"/>
            <a:ext cx="37033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AUPR  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70832" y="3977639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0B2A4A"/>
                </a:solidFill>
                <a:latin typeface="Calibri"/>
              </a:rPr>
              <a:t>Area under Precision-Recall curve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70832" y="4297680"/>
            <a:ext cx="3474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Sensitive to class imbalance. More honest when OOD is rare relative to ID.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01584" y="3474720"/>
            <a:ext cx="3703320" cy="210312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01584" y="3474720"/>
            <a:ext cx="3703320" cy="457200"/>
          </a:xfrm>
          <a:prstGeom prst="rect">
            <a:avLst/>
          </a:prstGeom>
          <a:solidFill>
            <a:srgbClr val="15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01584" y="3474720"/>
            <a:ext cx="37033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FPR@95TPR  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38744" y="3977639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0B2A4A"/>
                </a:solidFill>
                <a:latin typeface="Calibri"/>
              </a:rPr>
              <a:t>False-positive rate at 95 % TPR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38744" y="4297680"/>
            <a:ext cx="3474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The practical deployment metric: 'if I must keep 95 % of real ID, how many OOD slip through?'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5760" y="5715000"/>
            <a:ext cx="11430000" cy="68580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760720"/>
            <a:ext cx="1106424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Calibri"/>
              </a:rPr>
              <a:t>Protocol:  Adam (lr 1e-3), batch 512, 10 epochs per head, seed 42. All scores evaluated on the full test splits above — no subsampling.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" y="6638544"/>
            <a:ext cx="10058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E0E6F0"/>
                </a:solidFill>
                <a:latin typeface="Calibri"/>
              </a:rPr>
              <a:t>CSC 8851 · Deep Learning · Spring 2026 · Harshit Jain &amp; Parsh Jadon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7120" y="6638544"/>
            <a:ext cx="914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D451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FD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8.  Results — All methods, all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556A6"/>
                </a:solidFill>
                <a:latin typeface="Calibri"/>
              </a:rPr>
              <a:t>Near-OOD:  CIFAR-10  (ID)  vs  CIFAR-100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4114800" cy="347472"/>
          </a:xfrm>
          <a:prstGeom prst="rect">
            <a:avLst/>
          </a:prstGeom>
          <a:solidFill>
            <a:srgbClr val="0B2A4A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3977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417320"/>
            <a:ext cx="2377440" cy="347472"/>
          </a:xfrm>
          <a:prstGeom prst="rect">
            <a:avLst/>
          </a:prstGeom>
          <a:solidFill>
            <a:srgbClr val="0B2A4A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20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AUROC 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417320"/>
            <a:ext cx="2377440" cy="347472"/>
          </a:xfrm>
          <a:prstGeom prst="rect">
            <a:avLst/>
          </a:prstGeom>
          <a:solidFill>
            <a:srgbClr val="0B2A4A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417320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AUPR 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417320"/>
            <a:ext cx="2377440" cy="347472"/>
          </a:xfrm>
          <a:prstGeom prst="rect">
            <a:avLst/>
          </a:prstGeom>
          <a:solidFill>
            <a:srgbClr val="0B2A4A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417320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FPR@95 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764792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764792"/>
            <a:ext cx="3977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Baseline Energy [1]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1764792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764792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0.6884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1764792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1764792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0.6573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764792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764792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0.7959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112264"/>
            <a:ext cx="4114800" cy="347472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112264"/>
            <a:ext cx="3977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Latent Energy (ours)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2112264"/>
            <a:ext cx="2377440" cy="347472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2112264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0.4957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112264"/>
            <a:ext cx="2377440" cy="347472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112264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0.5263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2112264"/>
            <a:ext cx="2377440" cy="347472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2112264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0.9614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459736"/>
            <a:ext cx="4114800" cy="347472"/>
          </a:xfrm>
          <a:prstGeom prst="rect">
            <a:avLst/>
          </a:prstGeom>
          <a:solidFill>
            <a:srgbClr val="FFF7D6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2459736"/>
            <a:ext cx="3977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8A6100"/>
                </a:solidFill>
                <a:latin typeface="Calibri"/>
              </a:rPr>
              <a:t>Latent MLP (ours)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2459736"/>
            <a:ext cx="2377440" cy="347472"/>
          </a:xfrm>
          <a:prstGeom prst="rect">
            <a:avLst/>
          </a:prstGeom>
          <a:solidFill>
            <a:srgbClr val="FFF7D6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2459736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8A6100"/>
                </a:solidFill>
                <a:latin typeface="Consolas"/>
              </a:rPr>
              <a:t>0.7018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2459736"/>
            <a:ext cx="2377440" cy="347472"/>
          </a:xfrm>
          <a:prstGeom prst="rect">
            <a:avLst/>
          </a:prstGeom>
          <a:solidFill>
            <a:srgbClr val="FFF7D6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2459736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8A6100"/>
                </a:solidFill>
                <a:latin typeface="Consolas"/>
              </a:rPr>
              <a:t>0.6937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2459736"/>
            <a:ext cx="2377440" cy="347472"/>
          </a:xfrm>
          <a:prstGeom prst="rect">
            <a:avLst/>
          </a:prstGeom>
          <a:solidFill>
            <a:srgbClr val="FFF7D6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2459736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8A6100"/>
                </a:solidFill>
                <a:latin typeface="Consolas"/>
              </a:rPr>
              <a:t>0.8196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2807208"/>
            <a:ext cx="4114800" cy="347472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2807208"/>
            <a:ext cx="3977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Latent E + MLP (ours)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60" y="2807208"/>
            <a:ext cx="2377440" cy="347472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2807208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0.6698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2807208"/>
            <a:ext cx="2377440" cy="347472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0" y="2807208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0.6701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5440" y="2807208"/>
            <a:ext cx="2377440" cy="347472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0" y="2807208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0.8642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3566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556A6"/>
                </a:solidFill>
                <a:latin typeface="Calibri"/>
              </a:rPr>
              <a:t>Far-OOD:  CIFAR-10  (ID)  vs  SVHN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977639"/>
            <a:ext cx="4114800" cy="347472"/>
          </a:xfrm>
          <a:prstGeom prst="rect">
            <a:avLst/>
          </a:prstGeom>
          <a:solidFill>
            <a:srgbClr val="0B2A4A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977639"/>
            <a:ext cx="3977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80560" y="3977639"/>
            <a:ext cx="2377440" cy="347472"/>
          </a:xfrm>
          <a:prstGeom prst="rect">
            <a:avLst/>
          </a:prstGeom>
          <a:solidFill>
            <a:srgbClr val="0B2A4A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0" y="3977639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AUROC ↑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0" y="3977639"/>
            <a:ext cx="2377440" cy="347472"/>
          </a:xfrm>
          <a:prstGeom prst="rect">
            <a:avLst/>
          </a:prstGeom>
          <a:solidFill>
            <a:srgbClr val="0B2A4A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3977639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AUPR ↑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35440" y="3977639"/>
            <a:ext cx="2377440" cy="347472"/>
          </a:xfrm>
          <a:prstGeom prst="rect">
            <a:avLst/>
          </a:prstGeom>
          <a:solidFill>
            <a:srgbClr val="0B2A4A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0" y="3977639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FPR@95 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325111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325111"/>
            <a:ext cx="3977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Baseline Energy [1]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80560" y="4325111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0" y="4325111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0.7887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58000" y="4325111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49440" y="4325111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0.8634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35440" y="4325111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26880" y="4325111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0.5870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4672583"/>
            <a:ext cx="4114800" cy="347472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4672583"/>
            <a:ext cx="3977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Latent Energy (ours)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80560" y="4672583"/>
            <a:ext cx="2377440" cy="347472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0" y="4672583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0.4886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858000" y="4672583"/>
            <a:ext cx="2377440" cy="347472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49440" y="4672583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0.7595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35440" y="4672583"/>
            <a:ext cx="2377440" cy="347472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326880" y="4672583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0.9885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5020055"/>
            <a:ext cx="4114800" cy="347472"/>
          </a:xfrm>
          <a:prstGeom prst="rect">
            <a:avLst/>
          </a:prstGeom>
          <a:solidFill>
            <a:srgbClr val="FFF7D6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020055"/>
            <a:ext cx="3977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8A6100"/>
                </a:solidFill>
                <a:latin typeface="Calibri"/>
              </a:rPr>
              <a:t>Latent MLP (ours)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80560" y="5020055"/>
            <a:ext cx="2377440" cy="347472"/>
          </a:xfrm>
          <a:prstGeom prst="rect">
            <a:avLst/>
          </a:prstGeom>
          <a:solidFill>
            <a:srgbClr val="FFF7D6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0" y="5020055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8A6100"/>
                </a:solidFill>
                <a:latin typeface="Consolas"/>
              </a:rPr>
              <a:t>0.9801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58000" y="5020055"/>
            <a:ext cx="2377440" cy="347472"/>
          </a:xfrm>
          <a:prstGeom prst="rect">
            <a:avLst/>
          </a:prstGeom>
          <a:solidFill>
            <a:srgbClr val="FFF7D6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49440" y="5020055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8A6100"/>
                </a:solidFill>
                <a:latin typeface="Consolas"/>
              </a:rPr>
              <a:t>0.9920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235440" y="5020055"/>
            <a:ext cx="2377440" cy="347472"/>
          </a:xfrm>
          <a:prstGeom prst="rect">
            <a:avLst/>
          </a:prstGeom>
          <a:solidFill>
            <a:srgbClr val="FFF7D6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0" y="5020055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8A6100"/>
                </a:solidFill>
                <a:latin typeface="Consolas"/>
              </a:rPr>
              <a:t>0.1000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5367527"/>
            <a:ext cx="4114800" cy="347472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5367527"/>
            <a:ext cx="3977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Latent E + MLP (ours)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480560" y="5367527"/>
            <a:ext cx="2377440" cy="347472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0" y="5367527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0.9315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858000" y="5367527"/>
            <a:ext cx="2377440" cy="347472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49440" y="5367527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0.9663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235440" y="5367527"/>
            <a:ext cx="2377440" cy="347472"/>
          </a:xfrm>
          <a:prstGeom prst="rect">
            <a:avLst/>
          </a:prstGeom>
          <a:solidFill>
            <a:srgbClr val="EEF2F8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326880" y="5367527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0.2344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65760" y="5989320"/>
            <a:ext cx="11430000" cy="457200"/>
          </a:xfrm>
          <a:prstGeom prst="roundRect">
            <a:avLst/>
          </a:prstGeom>
          <a:solidFill>
            <a:srgbClr val="1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▶  Our Latent MLP beats the baseline on BOTH Near-OOD and Far-OOD, across ALL three metrics.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74320" y="6638544"/>
            <a:ext cx="10058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E0E6F0"/>
                </a:solidFill>
                <a:latin typeface="Calibri"/>
              </a:rPr>
              <a:t>CSC 8851 · Deep Learning · Spring 2026 · Harshit Jain &amp; Parsh Jadon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47120" y="6638544"/>
            <a:ext cx="914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D451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FD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9.  Head-to-Head: Baseline Energy vs Our Latent MLP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556A6"/>
                </a:solidFill>
                <a:latin typeface="Calibri"/>
              </a:rPr>
              <a:t>CIFAR-10  vs  CIFAR-100   (Near-OOD)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645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AUROC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6304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490472"/>
            <a:ext cx="4091574" cy="219456"/>
          </a:xfrm>
          <a:prstGeom prst="roundRect">
            <a:avLst/>
          </a:prstGeom>
          <a:solidFill>
            <a:srgbClr val="9CA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46304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B2A4A"/>
                </a:solidFill>
                <a:latin typeface="Consolas"/>
              </a:rPr>
              <a:t>0.688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75564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1E7A4E"/>
                </a:solidFill>
                <a:latin typeface="Calibri"/>
              </a:rPr>
              <a:t>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783080"/>
            <a:ext cx="4171218" cy="219456"/>
          </a:xfrm>
          <a:prstGeom prst="roundRect">
            <a:avLst/>
          </a:prstGeom>
          <a:solidFill>
            <a:srgbClr val="1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1755648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1E7A4E"/>
                </a:solidFill>
                <a:latin typeface="Consolas"/>
              </a:rPr>
              <a:t>0.702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1572768"/>
            <a:ext cx="1371600" cy="365760"/>
          </a:xfrm>
          <a:prstGeom prst="roundRect">
            <a:avLst/>
          </a:prstGeom>
          <a:solidFill>
            <a:srgbClr val="1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1572768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↑ 0.013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194560"/>
            <a:ext cx="1645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AUPR 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19456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2221992"/>
            <a:ext cx="3906728" cy="219456"/>
          </a:xfrm>
          <a:prstGeom prst="roundRect">
            <a:avLst/>
          </a:prstGeom>
          <a:solidFill>
            <a:srgbClr val="9CA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19456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B2A4A"/>
                </a:solidFill>
                <a:latin typeface="Consolas"/>
              </a:rPr>
              <a:t>0.657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487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1E7A4E"/>
                </a:solidFill>
                <a:latin typeface="Calibri"/>
              </a:rPr>
              <a:t>Ours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2514600"/>
            <a:ext cx="4123075" cy="219456"/>
          </a:xfrm>
          <a:prstGeom prst="roundRect">
            <a:avLst/>
          </a:prstGeom>
          <a:solidFill>
            <a:srgbClr val="1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2487168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1E7A4E"/>
                </a:solidFill>
                <a:latin typeface="Consolas"/>
              </a:rPr>
              <a:t>0.694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2304288"/>
            <a:ext cx="1371600" cy="365760"/>
          </a:xfrm>
          <a:prstGeom prst="roundRect">
            <a:avLst/>
          </a:prstGeom>
          <a:solidFill>
            <a:srgbClr val="1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2304288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↑ 0.036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926080"/>
            <a:ext cx="1645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FPR@95 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292608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Baseline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0" y="2953512"/>
            <a:ext cx="4730511" cy="219456"/>
          </a:xfrm>
          <a:prstGeom prst="roundRect">
            <a:avLst/>
          </a:prstGeom>
          <a:solidFill>
            <a:srgbClr val="9CA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292608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B2A4A"/>
                </a:solidFill>
                <a:latin typeface="Consolas"/>
              </a:rPr>
              <a:t>0.796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321868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1E7A4E"/>
                </a:solidFill>
                <a:latin typeface="Calibri"/>
              </a:rPr>
              <a:t>Ours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3246120"/>
            <a:ext cx="4871374" cy="219456"/>
          </a:xfrm>
          <a:prstGeom prst="roundRect">
            <a:avLst/>
          </a:prstGeom>
          <a:solidFill>
            <a:srgbClr val="1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3218688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1E7A4E"/>
                </a:solidFill>
                <a:latin typeface="Consolas"/>
              </a:rPr>
              <a:t>0.820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92640" y="3035808"/>
            <a:ext cx="1371600" cy="365760"/>
          </a:xfrm>
          <a:prstGeom prst="roundRect">
            <a:avLst/>
          </a:prstGeom>
          <a:solidFill>
            <a:srgbClr val="D6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3035808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↑ 0.024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3749039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556A6"/>
                </a:solidFill>
                <a:latin typeface="Calibri"/>
              </a:rPr>
              <a:t>CIFAR-10  vs  SVHN   (Far-OOD)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160520"/>
            <a:ext cx="1645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AUROC 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4160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Baseline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26080" y="4187952"/>
            <a:ext cx="4687717" cy="219456"/>
          </a:xfrm>
          <a:prstGeom prst="roundRect">
            <a:avLst/>
          </a:prstGeom>
          <a:solidFill>
            <a:srgbClr val="9CA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0" y="4160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B2A4A"/>
                </a:solidFill>
                <a:latin typeface="Consolas"/>
              </a:rPr>
              <a:t>0.789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445312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1E7A4E"/>
                </a:solidFill>
                <a:latin typeface="Calibri"/>
              </a:rPr>
              <a:t>Ours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26080" y="4480560"/>
            <a:ext cx="5825322" cy="219456"/>
          </a:xfrm>
          <a:prstGeom prst="roundRect">
            <a:avLst/>
          </a:prstGeom>
          <a:solidFill>
            <a:srgbClr val="1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0" y="4453128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1E7A4E"/>
                </a:solidFill>
                <a:latin typeface="Consolas"/>
              </a:rPr>
              <a:t>0.980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92640" y="4270248"/>
            <a:ext cx="1371600" cy="365760"/>
          </a:xfrm>
          <a:prstGeom prst="roundRect">
            <a:avLst/>
          </a:prstGeom>
          <a:solidFill>
            <a:srgbClr val="1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0" y="4270248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↑ 0.191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892040"/>
            <a:ext cx="1645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AUPR 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489204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Baseline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26080" y="4919472"/>
            <a:ext cx="5131704" cy="219456"/>
          </a:xfrm>
          <a:prstGeom prst="roundRect">
            <a:avLst/>
          </a:prstGeom>
          <a:solidFill>
            <a:srgbClr val="9CA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489204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B2A4A"/>
                </a:solidFill>
                <a:latin typeface="Consolas"/>
              </a:rPr>
              <a:t>0.863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1680" y="518464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1E7A4E"/>
                </a:solidFill>
                <a:latin typeface="Calibri"/>
              </a:rPr>
              <a:t>Ours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926080" y="5212080"/>
            <a:ext cx="5896051" cy="219456"/>
          </a:xfrm>
          <a:prstGeom prst="roundRect">
            <a:avLst/>
          </a:prstGeom>
          <a:solidFill>
            <a:srgbClr val="1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69680" y="5184648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1E7A4E"/>
                </a:solidFill>
                <a:latin typeface="Consolas"/>
              </a:rPr>
              <a:t>0.992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92640" y="5001768"/>
            <a:ext cx="1371600" cy="365760"/>
          </a:xfrm>
          <a:prstGeom prst="roundRect">
            <a:avLst/>
          </a:prstGeom>
          <a:solidFill>
            <a:srgbClr val="1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2640" y="5001768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↑ 0.129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5623560"/>
            <a:ext cx="1645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FPR@95 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11680" y="562356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Baseline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926080" y="5650992"/>
            <a:ext cx="3488893" cy="219456"/>
          </a:xfrm>
          <a:prstGeom prst="roundRect">
            <a:avLst/>
          </a:prstGeom>
          <a:solidFill>
            <a:srgbClr val="9CA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69680" y="562356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B2A4A"/>
                </a:solidFill>
                <a:latin typeface="Consolas"/>
              </a:rPr>
              <a:t>0.587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11680" y="591616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1E7A4E"/>
                </a:solidFill>
                <a:latin typeface="Calibri"/>
              </a:rPr>
              <a:t>Ours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926080" y="5943600"/>
            <a:ext cx="594360" cy="219456"/>
          </a:xfrm>
          <a:prstGeom prst="roundRect">
            <a:avLst/>
          </a:prstGeom>
          <a:solidFill>
            <a:srgbClr val="1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69680" y="5916168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1E7A4E"/>
                </a:solidFill>
                <a:latin typeface="Consolas"/>
              </a:rPr>
              <a:t>0.100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92640" y="5733288"/>
            <a:ext cx="1371600" cy="365760"/>
          </a:xfrm>
          <a:prstGeom prst="roundRect">
            <a:avLst/>
          </a:prstGeom>
          <a:solidFill>
            <a:srgbClr val="1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92640" y="5733288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↓ 0.487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5760" y="6172200"/>
            <a:ext cx="11430000" cy="320040"/>
          </a:xfrm>
          <a:prstGeom prst="roundRect">
            <a:avLst/>
          </a:prstGeom>
          <a:solidFill>
            <a:srgbClr val="1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6172200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On Far-OOD: +19.1 AUROC, +12.9 AUPR, −48.7 FPR@95. On Near-OOD: small but consistent gains on AUROC &amp; AUPR.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6638544"/>
            <a:ext cx="10058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E0E6F0"/>
                </a:solidFill>
                <a:latin typeface="Calibri"/>
              </a:rPr>
              <a:t>CSC 8851 · Deep Learning · Spring 2026 · Harshit Jain &amp; Parsh Jadon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247120" y="6638544"/>
            <a:ext cx="914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D451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FD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10.  Analysis — Why does combining signals hurt?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5577840" cy="539496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556A6"/>
                </a:solidFill>
                <a:latin typeface="Calibri"/>
              </a:rPr>
              <a:t>The paradox on Far-OOD (SVHN)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108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29718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Calibri"/>
              </a:rPr>
              <a:t>MLP score alone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600200"/>
            <a:ext cx="2103120" cy="548640"/>
          </a:xfrm>
          <a:prstGeom prst="rect">
            <a:avLst/>
          </a:prstGeom>
          <a:solidFill>
            <a:srgbClr val="FFF7D6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600200"/>
            <a:ext cx="201168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Consolas"/>
              </a:rPr>
              <a:t>0.980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40280"/>
            <a:ext cx="3108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40280"/>
            <a:ext cx="29718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Calibri"/>
              </a:rPr>
              <a:t>Energy score alone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240280"/>
            <a:ext cx="2103120" cy="548640"/>
          </a:xfrm>
          <a:prstGeom prst="rect">
            <a:avLst/>
          </a:prstGeom>
          <a:solidFill>
            <a:srgbClr val="FFF7D6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240280"/>
            <a:ext cx="201168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Consolas"/>
              </a:rPr>
              <a:t>0.489  (≈ random)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80360"/>
            <a:ext cx="3108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80360"/>
            <a:ext cx="29718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Calibri"/>
              </a:rPr>
              <a:t>0.5·MLP  +  0.5·Energy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880360"/>
            <a:ext cx="2103120" cy="548640"/>
          </a:xfrm>
          <a:prstGeom prst="rect">
            <a:avLst/>
          </a:prstGeom>
          <a:solidFill>
            <a:srgbClr val="FFF7D6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2880360"/>
            <a:ext cx="201168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Consolas"/>
              </a:rPr>
              <a:t>0.932  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D6735A"/>
                </a:solidFill>
                <a:latin typeface="Calibri"/>
              </a:rPr>
              <a:t>Why it happens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23360"/>
            <a:ext cx="530352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Equal-weight average assumes both inputs are informative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Near-random energy behaves like additive noise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Noise drags the strong MLP signal down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The ensemble mean is NOT the max — it cannot skip a bad signal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051560"/>
            <a:ext cx="5669280" cy="539496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14300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8A6100"/>
                </a:solidFill>
                <a:latin typeface="Calibri"/>
              </a:rPr>
              <a:t>Why Latent Energy is weak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600200"/>
            <a:ext cx="530352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We used Gaussian noise as pseudo-OOD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Gaussian samples land FAR from any real code pattern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Model only learns to push noise away from the data manifold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Real OOD (CIFAR-100, SVHN) still lives close to CIFAR-10 codes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→ Energy cannot distinguish them in-distribution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84048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E7A4E"/>
                </a:solidFill>
                <a:latin typeface="Calibri"/>
              </a:rPr>
              <a:t>How to fix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206240"/>
            <a:ext cx="530352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Smarter pseudo-OOD: CutMix on latent codes, codebook-index shuffling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Mix real codes with random codebook-entry substitutions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Learned blend weight α instead of fixed 0.5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Gated combiner: 'trust only the signal that is confident'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638544"/>
            <a:ext cx="10058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E0E6F0"/>
                </a:solidFill>
                <a:latin typeface="Calibri"/>
              </a:rPr>
              <a:t>CSC 8851 · Deep Learning · Spring 2026 · Harshit Jain &amp; Parsh Jadon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638544"/>
            <a:ext cx="914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D451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FD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11.  What We Learned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82880" cy="777240"/>
          </a:xfrm>
          <a:prstGeom prst="rect">
            <a:avLst/>
          </a:prstGeom>
          <a:solidFill>
            <a:srgbClr val="1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11247120" cy="77724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70432"/>
            <a:ext cx="10972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Latent MLP wins Far-OOD by a wide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10972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0.98 AUROC vs baseline 0.79 — a 19-point jump. FPR@95 drops from 59% to 10%.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47672"/>
            <a:ext cx="182880" cy="777240"/>
          </a:xfrm>
          <a:prstGeom prst="rect">
            <a:avLst/>
          </a:prstGeom>
          <a:solidFill>
            <a:srgbClr val="1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947672"/>
            <a:ext cx="11247120" cy="77724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20824"/>
            <a:ext cx="10972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Latent MLP also wins Near-OOD (small margin)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59152"/>
            <a:ext cx="10972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0.70 vs 0.69 AUROC — consistent improvement across AUROC and AUPR.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98064"/>
            <a:ext cx="182880" cy="777240"/>
          </a:xfrm>
          <a:prstGeom prst="rect">
            <a:avLst/>
          </a:prstGeom>
          <a:solidFill>
            <a:srgbClr val="D6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798064"/>
            <a:ext cx="11247120" cy="77724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71216"/>
            <a:ext cx="10972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Gaussian noise is a weak pseudo-OOD proxy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09544"/>
            <a:ext cx="10972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Energy model trained on noise performs near chance on real OOD (AUROC ≈ 0.49).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48456"/>
            <a:ext cx="182880" cy="777240"/>
          </a:xfrm>
          <a:prstGeom prst="rect">
            <a:avLst/>
          </a:prstGeom>
          <a:solidFill>
            <a:srgbClr val="D6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648456"/>
            <a:ext cx="11247120" cy="77724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21608"/>
            <a:ext cx="10972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Blending weak + strong can hurt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59936"/>
            <a:ext cx="10972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0.5·Energy + 0.5·MLP on SVHN scored 0.93 — below MLP-alone at 0.98.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98848"/>
            <a:ext cx="182880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498848"/>
            <a:ext cx="11247120" cy="77724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10972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Near-OOD remains the real challenge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10328"/>
            <a:ext cx="10972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CIFAR-100 shares visual statistics with CIFAR-10; a 512-entry codebook cannot separate them cleanly.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49240"/>
            <a:ext cx="182880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11247120" cy="77724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422392"/>
            <a:ext cx="10972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The method is unsupervised-friendly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60720"/>
            <a:ext cx="10972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The Energy route needs no OOD labels — once we fix the pseudo-OOD, it becomes the most deployable variant.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638544"/>
            <a:ext cx="10058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E0E6F0"/>
                </a:solidFill>
                <a:latin typeface="Calibri"/>
              </a:rPr>
              <a:t>CSC 8851 · Deep Learning · Spring 2026 · Harshit Jain &amp; Parsh Jadon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638544"/>
            <a:ext cx="914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D451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FD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12.  Conclusions &amp; Future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5760720" cy="539496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556A6"/>
                </a:solidFill>
                <a:latin typeface="Calibri"/>
              </a:rPr>
              <a:t>Conclusions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39496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Moving OOD detection from classifier logits into VQ-VAE latent space is a clear win for Far-OOD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Our Latent MLP dominates on SVHN across all three standard metrics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Near-OOD remains hard because CIFAR-100 codes overlap CIFAR-10 codes — a codebook-capacity issue, not a loss-design issue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Unsupervised latent energy alone is not yet competitive — the pseudo-OOD signal is too weak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Combining detectors via fixed-weight mean can hurt when component quality is unequal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111111"/>
                </a:solidFill>
                <a:latin typeface="Calibri"/>
              </a:rPr>
              <a:t>•  Overall: the generative-latent framing is promising, with a clear path to closing the Near-OOD 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51560"/>
            <a:ext cx="5486400" cy="539496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14300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8A6100"/>
                </a:solidFill>
                <a:latin typeface="Calibri"/>
              </a:rPr>
              <a:t>Future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600200"/>
            <a:ext cx="52120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4592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Smarter pseudo-OOD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20240"/>
            <a:ext cx="5029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CutMix on codes, codebook-index shuffling, mixing with sampled codebook distractors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404872"/>
            <a:ext cx="52120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450592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Larger codebook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724912"/>
            <a:ext cx="5029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K = 1024–4096 to resolve finer visual distinctions between CIFAR-10 and CIFAR-100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209544"/>
            <a:ext cx="52120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255264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Richer encoder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529584"/>
            <a:ext cx="5029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Replace the 2-layer conv encoder with a WideResNet backbone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014216"/>
            <a:ext cx="52120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059936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Learnable blend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334256"/>
            <a:ext cx="5029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Replace α = 0.5 with a learned or confidence-gated combiner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818888"/>
            <a:ext cx="52120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864608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Per-superclass ablation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138928"/>
            <a:ext cx="5029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Find which CIFAR-100 categories are hardest to flag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5623560"/>
            <a:ext cx="52120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566928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Deployment study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943600"/>
            <a:ext cx="5029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Latency, calibration, and shift robustness on real-world ID streams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638544"/>
            <a:ext cx="10058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E0E6F0"/>
                </a:solidFill>
                <a:latin typeface="Calibri"/>
              </a:rPr>
              <a:t>CSC 8851 · Deep Learning · Spring 2026 · Harshit Jain &amp; Parsh Jadon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638544"/>
            <a:ext cx="914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D451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FD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11430000" cy="56692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[1]  W. Liu, X. Wang, J. Owens, Y. Li.  Energy-based Out-of-Distribution Detection.  NeurIPS 2020.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83080"/>
            <a:ext cx="11430000" cy="56692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[2]  A. van den Oord, O. Vinyals, K. Kavukcuoglu.  Neural Discrete Representation Learning.  NeurIPS 2017.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423160"/>
            <a:ext cx="11430000" cy="56692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[3]  D. Hendrycks, K. Gimpel.  A Baseline for Detecting Misclassified and Out-of-Distribution Examples in Neural Networks.  ICLR 2017.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063240"/>
            <a:ext cx="11430000" cy="56692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[4]  S. Liang, Y. Li, R. Srikant.  Enhancing the Reliability of Out-of-Distribution Image Detection in Neural Networks (ODIN).  ICLR 2018.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703320"/>
            <a:ext cx="11430000" cy="56692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49040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[5]  K. Lee, K. Lee, H. Lee, J. Shin.  A Simple Unified Framework for Detecting Out-of-Distribution Samples and Adversarial Attacks.  NeurIPS 2018.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43400"/>
            <a:ext cx="11430000" cy="56692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[6]  D. Hendrycks, M. Mazeika, T. Dietterich.  Deep Anomaly Detection with Outlier Exposure.  ICLR 2019.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983480"/>
            <a:ext cx="11430000" cy="56692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[7]  A. Krizhevsky.  Learning Multiple Layers of Features from Tiny Images.  Tech. report, University of Toronto, 2009.  (CIFAR-10 / CIFAR-100)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623560"/>
            <a:ext cx="11430000" cy="56692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A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669280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alibri"/>
              </a:rPr>
              <a:t>[8]  Y. Netzer et al.  Reading Digits in Natural Images with Unsupervised Feature Learning.  NeurIPS Workshop 2011.  (SVHN)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638544"/>
            <a:ext cx="10058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E0E6F0"/>
                </a:solidFill>
                <a:latin typeface="Calibri"/>
              </a:rPr>
              <a:t>CSC 8851 · Deep Learning · Spring 2026 · Harshit Jain &amp; Parsh Jadon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638544"/>
            <a:ext cx="914400" cy="2103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D451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FFD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200" b="0">
                <a:solidFill>
                  <a:srgbClr val="FFD451"/>
                </a:solidFill>
                <a:latin typeface="Calibri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700" b="0">
                <a:solidFill>
                  <a:srgbClr val="CFD8E8"/>
                </a:solidFill>
                <a:latin typeface="Calibri"/>
              </a:rPr>
              <a:t>Improving Energy-Based Out-of-Distribution Detection using Generative Modeling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FD451"/>
                </a:solidFill>
                <a:latin typeface="Calibri"/>
              </a:rPr>
              <a:t>Harshit Jain   ·   hjain5@gsu.edu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FD451"/>
                </a:solidFill>
                <a:latin typeface="Calibri"/>
              </a:rPr>
              <a:t>Parsh Jadon   ·   pjadon1@gsu.edu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CFD8E8"/>
                </a:solidFill>
                <a:latin typeface="Consolas"/>
              </a:rPr>
              <a:t>github.com/harshitjain25/csc8851-vqvae-ood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CFD8E8"/>
                </a:solidFill>
                <a:latin typeface="Calibri"/>
              </a:rPr>
              <a:t>CSC 8851  ·  Deep Learning  ·  Spring 2026  ·  Georgia State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